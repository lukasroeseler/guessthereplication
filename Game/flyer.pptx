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532765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4F1EA"/>
    <a:srgbClr val="002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94660"/>
  </p:normalViewPr>
  <p:slideViewPr>
    <p:cSldViewPr snapToGrid="0">
      <p:cViewPr varScale="1">
        <p:scale>
          <a:sx n="95" d="100"/>
          <a:sy n="95" d="100"/>
        </p:scale>
        <p:origin x="3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574" y="1237197"/>
            <a:ext cx="4528503" cy="2631887"/>
          </a:xfrm>
        </p:spPr>
        <p:txBody>
          <a:bodyPr anchor="b"/>
          <a:lstStyle>
            <a:lvl1pPr algn="ctr">
              <a:defRPr sz="349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956" y="3970580"/>
            <a:ext cx="3995738" cy="1825171"/>
          </a:xfrm>
        </p:spPr>
        <p:txBody>
          <a:bodyPr/>
          <a:lstStyle>
            <a:lvl1pPr marL="0" indent="0" algn="ctr">
              <a:buNone/>
              <a:defRPr sz="1398"/>
            </a:lvl1pPr>
            <a:lvl2pPr marL="266365" indent="0" algn="ctr">
              <a:buNone/>
              <a:defRPr sz="1165"/>
            </a:lvl2pPr>
            <a:lvl3pPr marL="532729" indent="0" algn="ctr">
              <a:buNone/>
              <a:defRPr sz="1049"/>
            </a:lvl3pPr>
            <a:lvl4pPr marL="799094" indent="0" algn="ctr">
              <a:buNone/>
              <a:defRPr sz="932"/>
            </a:lvl4pPr>
            <a:lvl5pPr marL="1065459" indent="0" algn="ctr">
              <a:buNone/>
              <a:defRPr sz="932"/>
            </a:lvl5pPr>
            <a:lvl6pPr marL="1331824" indent="0" algn="ctr">
              <a:buNone/>
              <a:defRPr sz="932"/>
            </a:lvl6pPr>
            <a:lvl7pPr marL="1598188" indent="0" algn="ctr">
              <a:buNone/>
              <a:defRPr sz="932"/>
            </a:lvl7pPr>
            <a:lvl8pPr marL="1864553" indent="0" algn="ctr">
              <a:buNone/>
              <a:defRPr sz="932"/>
            </a:lvl8pPr>
            <a:lvl9pPr marL="2130918" indent="0" algn="ctr">
              <a:buNone/>
              <a:defRPr sz="93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8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2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501" y="1884671"/>
            <a:ext cx="4595098" cy="3144614"/>
          </a:xfrm>
        </p:spPr>
        <p:txBody>
          <a:bodyPr anchor="b"/>
          <a:lstStyle>
            <a:lvl1pPr>
              <a:defRPr sz="349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501" y="5059035"/>
            <a:ext cx="4595098" cy="1653678"/>
          </a:xfrm>
        </p:spPr>
        <p:txBody>
          <a:bodyPr/>
          <a:lstStyle>
            <a:lvl1pPr marL="0" indent="0">
              <a:buNone/>
              <a:defRPr sz="1398">
                <a:solidFill>
                  <a:schemeClr val="tx1">
                    <a:tint val="82000"/>
                  </a:schemeClr>
                </a:solidFill>
              </a:defRPr>
            </a:lvl1pPr>
            <a:lvl2pPr marL="266365" indent="0">
              <a:buNone/>
              <a:defRPr sz="1165">
                <a:solidFill>
                  <a:schemeClr val="tx1">
                    <a:tint val="82000"/>
                  </a:schemeClr>
                </a:solidFill>
              </a:defRPr>
            </a:lvl2pPr>
            <a:lvl3pPr marL="532729" indent="0">
              <a:buNone/>
              <a:defRPr sz="1049">
                <a:solidFill>
                  <a:schemeClr val="tx1">
                    <a:tint val="82000"/>
                  </a:schemeClr>
                </a:solidFill>
              </a:defRPr>
            </a:lvl3pPr>
            <a:lvl4pPr marL="799094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4pPr>
            <a:lvl5pPr marL="1065459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5pPr>
            <a:lvl6pPr marL="1331824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6pPr>
            <a:lvl7pPr marL="1598188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7pPr>
            <a:lvl8pPr marL="1864553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8pPr>
            <a:lvl9pPr marL="2130918" indent="0">
              <a:buNone/>
              <a:defRPr sz="93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5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276" y="2012414"/>
            <a:ext cx="2264251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7123" y="2012414"/>
            <a:ext cx="2264251" cy="47965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402484"/>
            <a:ext cx="4595098" cy="1461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971" y="1853171"/>
            <a:ext cx="22538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6971" y="2761381"/>
            <a:ext cx="2253845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7123" y="1853171"/>
            <a:ext cx="2264945" cy="908210"/>
          </a:xfrm>
        </p:spPr>
        <p:txBody>
          <a:bodyPr anchor="b"/>
          <a:lstStyle>
            <a:lvl1pPr marL="0" indent="0">
              <a:buNone/>
              <a:defRPr sz="1398" b="1"/>
            </a:lvl1pPr>
            <a:lvl2pPr marL="266365" indent="0">
              <a:buNone/>
              <a:defRPr sz="1165" b="1"/>
            </a:lvl2pPr>
            <a:lvl3pPr marL="532729" indent="0">
              <a:buNone/>
              <a:defRPr sz="1049" b="1"/>
            </a:lvl3pPr>
            <a:lvl4pPr marL="799094" indent="0">
              <a:buNone/>
              <a:defRPr sz="932" b="1"/>
            </a:lvl4pPr>
            <a:lvl5pPr marL="1065459" indent="0">
              <a:buNone/>
              <a:defRPr sz="932" b="1"/>
            </a:lvl5pPr>
            <a:lvl6pPr marL="1331824" indent="0">
              <a:buNone/>
              <a:defRPr sz="932" b="1"/>
            </a:lvl6pPr>
            <a:lvl7pPr marL="1598188" indent="0">
              <a:buNone/>
              <a:defRPr sz="932" b="1"/>
            </a:lvl7pPr>
            <a:lvl8pPr marL="1864553" indent="0">
              <a:buNone/>
              <a:defRPr sz="932" b="1"/>
            </a:lvl8pPr>
            <a:lvl9pPr marL="2130918" indent="0">
              <a:buNone/>
              <a:defRPr sz="93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7123" y="2761381"/>
            <a:ext cx="2264945" cy="40615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6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0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4945" y="1088455"/>
            <a:ext cx="2697123" cy="5372269"/>
          </a:xfrm>
        </p:spPr>
        <p:txBody>
          <a:bodyPr/>
          <a:lstStyle>
            <a:lvl1pPr>
              <a:defRPr sz="1864"/>
            </a:lvl1pPr>
            <a:lvl2pPr>
              <a:defRPr sz="1631"/>
            </a:lvl2pPr>
            <a:lvl3pPr>
              <a:defRPr sz="1398"/>
            </a:lvl3pPr>
            <a:lvl4pPr>
              <a:defRPr sz="1165"/>
            </a:lvl4pPr>
            <a:lvl5pPr>
              <a:defRPr sz="1165"/>
            </a:lvl5pPr>
            <a:lvl6pPr>
              <a:defRPr sz="1165"/>
            </a:lvl6pPr>
            <a:lvl7pPr>
              <a:defRPr sz="1165"/>
            </a:lvl7pPr>
            <a:lvl8pPr>
              <a:defRPr sz="1165"/>
            </a:lvl8pPr>
            <a:lvl9pPr>
              <a:defRPr sz="116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3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970" y="503978"/>
            <a:ext cx="1718306" cy="1763924"/>
          </a:xfrm>
        </p:spPr>
        <p:txBody>
          <a:bodyPr anchor="b"/>
          <a:lstStyle>
            <a:lvl1pPr>
              <a:defRPr sz="1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4945" y="1088455"/>
            <a:ext cx="2697123" cy="5372269"/>
          </a:xfrm>
        </p:spPr>
        <p:txBody>
          <a:bodyPr anchor="t"/>
          <a:lstStyle>
            <a:lvl1pPr marL="0" indent="0">
              <a:buNone/>
              <a:defRPr sz="1864"/>
            </a:lvl1pPr>
            <a:lvl2pPr marL="266365" indent="0">
              <a:buNone/>
              <a:defRPr sz="1631"/>
            </a:lvl2pPr>
            <a:lvl3pPr marL="532729" indent="0">
              <a:buNone/>
              <a:defRPr sz="1398"/>
            </a:lvl3pPr>
            <a:lvl4pPr marL="799094" indent="0">
              <a:buNone/>
              <a:defRPr sz="1165"/>
            </a:lvl4pPr>
            <a:lvl5pPr marL="1065459" indent="0">
              <a:buNone/>
              <a:defRPr sz="1165"/>
            </a:lvl5pPr>
            <a:lvl6pPr marL="1331824" indent="0">
              <a:buNone/>
              <a:defRPr sz="1165"/>
            </a:lvl6pPr>
            <a:lvl7pPr marL="1598188" indent="0">
              <a:buNone/>
              <a:defRPr sz="1165"/>
            </a:lvl7pPr>
            <a:lvl8pPr marL="1864553" indent="0">
              <a:buNone/>
              <a:defRPr sz="1165"/>
            </a:lvl8pPr>
            <a:lvl9pPr marL="2130918" indent="0">
              <a:buNone/>
              <a:defRPr sz="116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970" y="2267902"/>
            <a:ext cx="1718306" cy="4201570"/>
          </a:xfrm>
        </p:spPr>
        <p:txBody>
          <a:bodyPr/>
          <a:lstStyle>
            <a:lvl1pPr marL="0" indent="0">
              <a:buNone/>
              <a:defRPr sz="932"/>
            </a:lvl1pPr>
            <a:lvl2pPr marL="266365" indent="0">
              <a:buNone/>
              <a:defRPr sz="816"/>
            </a:lvl2pPr>
            <a:lvl3pPr marL="532729" indent="0">
              <a:buNone/>
              <a:defRPr sz="699"/>
            </a:lvl3pPr>
            <a:lvl4pPr marL="799094" indent="0">
              <a:buNone/>
              <a:defRPr sz="583"/>
            </a:lvl4pPr>
            <a:lvl5pPr marL="1065459" indent="0">
              <a:buNone/>
              <a:defRPr sz="583"/>
            </a:lvl5pPr>
            <a:lvl6pPr marL="1331824" indent="0">
              <a:buNone/>
              <a:defRPr sz="583"/>
            </a:lvl6pPr>
            <a:lvl7pPr marL="1598188" indent="0">
              <a:buNone/>
              <a:defRPr sz="583"/>
            </a:lvl7pPr>
            <a:lvl8pPr marL="1864553" indent="0">
              <a:buNone/>
              <a:defRPr sz="583"/>
            </a:lvl8pPr>
            <a:lvl9pPr marL="2130918" indent="0">
              <a:buNone/>
              <a:defRPr sz="5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30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1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2600" y="402483"/>
            <a:ext cx="1148775" cy="640647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276" y="402483"/>
            <a:ext cx="3379728" cy="64064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276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D5771-DFBD-4D7C-BC02-D4FD5B5F1D9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784" y="7006700"/>
            <a:ext cx="179808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2653" y="7006700"/>
            <a:ext cx="119872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CA2A1-B92A-43F8-A49A-32E99CEC7B0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7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2729" rtl="0" eaLnBrk="1" latinLnBrk="0" hangingPunct="1">
        <a:lnSpc>
          <a:spcPct val="90000"/>
        </a:lnSpc>
        <a:spcBef>
          <a:spcPct val="0"/>
        </a:spcBef>
        <a:buNone/>
        <a:defRPr sz="2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182" indent="-133182" algn="l" defTabSz="532729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39954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665912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3pPr>
      <a:lvl4pPr marL="93227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864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5006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137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7735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4100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485AE625-9DB1-355A-7493-F4D49BE19EB7}"/>
              </a:ext>
            </a:extLst>
          </p:cNvPr>
          <p:cNvSpPr/>
          <p:nvPr/>
        </p:nvSpPr>
        <p:spPr>
          <a:xfrm>
            <a:off x="173939" y="120584"/>
            <a:ext cx="4980865" cy="3587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004B74A-0EB3-8CDB-B6A3-B4A0D1F8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41" y="347444"/>
            <a:ext cx="871178" cy="101085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FE28FC71-40CD-BB22-2134-9B5EED7857FD}"/>
              </a:ext>
            </a:extLst>
          </p:cNvPr>
          <p:cNvSpPr/>
          <p:nvPr/>
        </p:nvSpPr>
        <p:spPr>
          <a:xfrm>
            <a:off x="746587" y="1530974"/>
            <a:ext cx="3834476" cy="2111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How well can you predict outcomes of scientific replication attempts?</a:t>
            </a: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Play now, beat your colleagues’ high score, and get your own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GutheR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-certificate!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E9B4F74-5A5C-1526-5A3D-769BBA6E3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059" y="468977"/>
            <a:ext cx="1921606" cy="76778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6E5E727-ACBB-334F-CA47-904210695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14916"/>
            <a:ext cx="938418" cy="62561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49FEFB1-3353-17AA-234E-90DDF668B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276" y="3222343"/>
            <a:ext cx="335137" cy="41075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BE35E08E-10D6-433B-8AFB-8AD0E287E2F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0438" y="2067314"/>
            <a:ext cx="986774" cy="986774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9052260B-DD38-815F-1B9A-36F02F1D9D2A}"/>
              </a:ext>
            </a:extLst>
          </p:cNvPr>
          <p:cNvSpPr/>
          <p:nvPr/>
        </p:nvSpPr>
        <p:spPr>
          <a:xfrm>
            <a:off x="173939" y="3861855"/>
            <a:ext cx="4980865" cy="35872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1FDA2482-BBBC-EA03-F3F8-F82CE3B85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41" y="4088715"/>
            <a:ext cx="871178" cy="1010850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88BBB125-DD00-B82A-497B-B181AC365EB8}"/>
              </a:ext>
            </a:extLst>
          </p:cNvPr>
          <p:cNvSpPr/>
          <p:nvPr/>
        </p:nvSpPr>
        <p:spPr>
          <a:xfrm>
            <a:off x="746587" y="5272245"/>
            <a:ext cx="3834476" cy="2111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How well can you predict outcomes of scientific replication attempts?</a:t>
            </a: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Play now, beat your colleagues’ high score, and get your own </a:t>
            </a:r>
            <a:r>
              <a:rPr 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GutheR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-certificate!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65F3DF6B-9F12-C662-9A50-BA6A28F7D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059" y="4210248"/>
            <a:ext cx="1921606" cy="76778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68001F0-EDE9-C6AE-2254-2C830EDDD68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0438" y="5808585"/>
            <a:ext cx="986774" cy="98677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78E2F905-28B9-046D-A6AB-C7C961B95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3644"/>
            <a:ext cx="938418" cy="625612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C3756547-E15F-DA39-9487-DDE601871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276" y="6961071"/>
            <a:ext cx="335137" cy="41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9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B59820A-7704-739E-4C59-FBCE4DBB3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4" y="0"/>
            <a:ext cx="5154322" cy="377983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86F2135-03F4-1614-216F-EB1A6FF84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64" y="3779838"/>
            <a:ext cx="5154322" cy="377983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9BAA0A5-B5B8-432C-123D-8C57C08AA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09" y="4460552"/>
            <a:ext cx="3593100" cy="2050779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485AE625-9DB1-355A-7493-F4D49BE19EB7}"/>
              </a:ext>
            </a:extLst>
          </p:cNvPr>
          <p:cNvSpPr/>
          <p:nvPr/>
        </p:nvSpPr>
        <p:spPr>
          <a:xfrm>
            <a:off x="334712" y="5753008"/>
            <a:ext cx="4658225" cy="346344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Finn predicted 3 out of 6 replication outcomes correctly and achieved the rank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13D166B-B60E-9657-3052-99956D691221}"/>
              </a:ext>
            </a:extLst>
          </p:cNvPr>
          <p:cNvSpPr/>
          <p:nvPr/>
        </p:nvSpPr>
        <p:spPr>
          <a:xfrm>
            <a:off x="334712" y="1678140"/>
            <a:ext cx="4658225" cy="483843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Mary predicted 5 out of 9 replication outcomes correctly and achieved the rank</a:t>
            </a:r>
          </a:p>
        </p:txBody>
      </p:sp>
    </p:spTree>
    <p:extLst>
      <p:ext uri="{BB962C8B-B14F-4D97-AF65-F5344CB8AC3E}">
        <p14:creationId xmlns:p14="http://schemas.microsoft.com/office/powerpoint/2010/main" val="3546695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Benutzerdefiniert</PresentationFormat>
  <Paragraphs>20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Röseler</dc:creator>
  <cp:lastModifiedBy>Lukas Röseler</cp:lastModifiedBy>
  <cp:revision>5</cp:revision>
  <dcterms:created xsi:type="dcterms:W3CDTF">2026-03-19T13:53:26Z</dcterms:created>
  <dcterms:modified xsi:type="dcterms:W3CDTF">2026-03-19T14:12:42Z</dcterms:modified>
</cp:coreProperties>
</file>